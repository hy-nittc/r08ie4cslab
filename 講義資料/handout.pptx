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第1回: 組合せ回路の基礎 | 受講者配布資料 (Handout)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rial"/>
              </a:defRPr>
            </a:pPr>
            <a:r>
              <a:t>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© 2026 Advanced Digital Logic Course | 配布用テクニカルリファレンス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Computer System Laboratory テクニカルハンドアウト (Handout)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/>
            </a:r>
            <a:r>
              <a:rPr b="1" sz="1500">
                <a:solidFill>
                  <a:srgbClr val="1E293B"/>
                </a:solidFill>
                <a:latin typeface="Arial"/>
              </a:rPr>
              <a:t>授業名</a:t>
            </a:r>
            <a:r>
              <a:rPr sz="1500">
                <a:solidFill>
                  <a:srgbClr val="1E293B"/>
                </a:solidFill>
                <a:latin typeface="Arial"/>
              </a:rPr>
              <a:t>: 「Computer System Laboratory」全8回シリーズ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/>
            </a:r>
            <a:r>
              <a:rPr b="1" sz="1500">
                <a:solidFill>
                  <a:srgbClr val="1E293B"/>
                </a:solidFill>
                <a:latin typeface="Arial"/>
              </a:rPr>
              <a:t>対象読者</a:t>
            </a:r>
            <a:r>
              <a:rPr sz="1500">
                <a:solidFill>
                  <a:srgbClr val="1E293B"/>
                </a:solidFill>
                <a:latin typeface="Arial"/>
              </a:rPr>
              <a:t>: 受講者全員（講義中および90分演習時の手元参照用リファレンス）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/>
            </a:r>
            <a:r>
              <a:rPr b="1" sz="1500">
                <a:solidFill>
                  <a:srgbClr val="1E293B"/>
                </a:solidFill>
                <a:latin typeface="Arial"/>
              </a:rPr>
              <a:t>時間設定</a:t>
            </a:r>
            <a:r>
              <a:rPr sz="1500">
                <a:solidFill>
                  <a:srgbClr val="1E293B"/>
                </a:solidFill>
                <a:latin typeface="Arial"/>
              </a:rPr>
              <a:t>: 各回 講義 60分 + 演習 90分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第1回: 組合せ回路の基礎 | 受講者配布資料 (Handout)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rial"/>
              </a:defRPr>
            </a:pPr>
            <a:r>
              <a:t>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© 2026 Advanced Digital Logic Course | 配布用テクニカルリファレンス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1. 信号型・演算子クイックリファレンス (第1回〜第2回)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243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構文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物理回路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記述例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`Bool()`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1ビット二値信号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1本の配線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en = Input(Bool())`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`UInt(w.W)`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$w$ ビット符号なし整数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$w$ 本のバス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data = Wire(UInt(8.W))`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`SInt(w.W)`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$w$ ビット2の補数整数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$w$ 本のバス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s = Wire(SInt(16.W))`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`+&amp;`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拡張加算（キャリー保持）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$w+1$ ビット加算器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sumExt = a +&amp; b`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`-&amp;`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拡張減算（ボロー保持）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$w+1$ ビット減算器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subExt = a -&amp; b`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`Cat(hi, lo)`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バス結合（上位/下位）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物理配線バンドル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word = Cat(highNibble, lowNibble)`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`x(hi, lo)`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ビットスライス抽出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バスから部分配線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slice = x(7, 4)`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`x.orR`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縮約OR (Reduction 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ORツリー回路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anyBit = x.orR` (非ゼロ判定)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`Mux(c, t, f)`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2-to-1 マルチプレクサ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物理MUXゲート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res = Mux(sel, in1, in0)`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`WireDefault(v)`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デフォルト接続付き配線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**透過ラッチ完全防止**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out = WireDefault(0.U(8.W))`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`switch / is`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直交デコーダ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並列平衡デコーダ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`switch(op) { is(0.U) { ... } }`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第1回: 組合せ回路の基礎 | 受講者配布資料 (Handout)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rial"/>
              </a:defRPr>
            </a:pPr>
            <a:r>
              <a:t>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© 2026 Advanced Digital Logic Course | 配布用テクニカルリファレンス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2. 順序回路と特殊カウンタ構文 (第3回〜第4回)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0403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回路要素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Chisel記述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ハードウェア動作特性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40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**初期値付きD-FF**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r = RegInit(0.U(8.W))`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暗黙の同期リセットで初期化</a:t>
                      </a:r>
                    </a:p>
                  </a:txBody>
                  <a:tcPr/>
                </a:tc>
              </a:tr>
              <a:tr h="3040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**パイプライン段**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pipe = RegNext(inSignal, 0.U)`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1クロックサイクルの同期遅延</a:t>
                      </a:r>
                    </a:p>
                  </a:txBody>
                  <a:tcPr/>
                </a:tc>
              </a:tr>
              <a:tr h="3040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**モジュロNラップ**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`when(cnt === (n-1).U) { cnt := 0.U }`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終端検出による巡回リセット</a:t>
                      </a:r>
                    </a:p>
                  </a:txBody>
                  <a:tcPr/>
                </a:tc>
              </a:tr>
              <a:tr h="3040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**Ringカウンタ循環**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`Cat(state(w - 2, 0), state(w - 1))`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1-hot左循環シフト</a:t>
                      </a:r>
                    </a:p>
                  </a:txBody>
                  <a:tcPr/>
                </a:tc>
              </a:tr>
              <a:tr h="3040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**Johnson反転帰還**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`Cat(state(w - 2, 0), ~state(w - 1))`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最上位ビットの反転を最下位へ帰還 ($2N$ 状態)</a:t>
                      </a:r>
                    </a:p>
                  </a:txBody>
                  <a:tcPr/>
                </a:tc>
              </a:tr>
              <a:tr h="3040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**1-hot自己復帰判定**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`PopCount(state) === 1.U`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立っているビット数が1以外の時に初期値へ強制復帰</a:t>
                      </a:r>
                    </a:p>
                  </a:txBody>
                  <a:tcPr/>
                </a:tc>
              </a:tr>
              <a:tr h="3040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**グレイコード変換**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`val gray = bin ^ (bin &gt;&gt; 1)`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隣接遷移で常に1ビットのみ反転する安全符号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第1回: 組合せ回路の基礎 | 受講者配布資料 (Handout)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rial"/>
              </a:defRPr>
            </a:pPr>
            <a:r>
              <a:t>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© 2026 Advanced Digital Logic Course | 配布用テクニカルリファレンス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3. 構造化設計と同期カスケード (第5回〜第6回)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### サブモジュールのインスタンス化と配線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8"/>
            <a:ext cx="1069848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200">
                <a:solidFill>
                  <a:srgbClr val="0F172A"/>
                </a:solidFill>
                <a:latin typeface="Menlo"/>
              </a:defRPr>
            </a:pPr>
            <a:r>
              <a:t>class TopModule extends Module {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val subA = Module(new SubModuleA)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val subB = Module(new SubModuleB)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// 1. 親の入力 -&gt; 子の入力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subA.io.in := io.topIn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// 2. 子 -&gt; 子 の完全同期カスケード (cout -&gt; en)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subB.io.en := io.en &amp;&amp; subA.io.rollover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// 3. 子の出力 -&gt; 親の出力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io.topOut := subB.io.out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73168"/>
            <a:ext cx="1069848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### 同期カスケードの絶対原則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/>
            </a:r>
            <a:r>
              <a:rPr b="1" sz="1500">
                <a:solidFill>
                  <a:srgbClr val="1E293B"/>
                </a:solidFill>
                <a:latin typeface="Arial"/>
              </a:rPr>
              <a:t>非同期リップルクロックの厳禁</a:t>
            </a:r>
            <a:r>
              <a:rPr sz="1500">
                <a:solidFill>
                  <a:srgbClr val="1E293B"/>
                </a:solidFill>
                <a:latin typeface="Arial"/>
              </a:rPr>
              <a:t>: 下位モジュールの `cout` を上位モジュールの `clock` 端子に接続してはならない。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すべてのモジュールに同一のシステムクロックを供給し、`cout` を上位の `en` 端子に接続する。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第1回: 組合せ回路の基礎 | 受講者配布資料 (Handout)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rial"/>
              </a:defRPr>
            </a:pPr>
            <a:r>
              <a:t>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© 2026 Advanced Digital Logic Course | 配布用テクニカルリファレンス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4. FSMとメモリ回路の構文 (第7回〜第8回)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### 有限状態機械 (`ChiselEnum` + Moore型)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8"/>
            <a:ext cx="1069848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200">
                <a:solidFill>
                  <a:srgbClr val="0F172A"/>
                </a:solidFill>
                <a:latin typeface="Menlo"/>
              </a:defRPr>
            </a:pPr>
            <a:r>
              <a:t>object State extends ChiselEnum {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val sIDLE, sACTIVE, sDONE = Value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}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val stateReg = RegInit(State.sIDLE)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// 次状態遷移論理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switch(stateReg) {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is(State.sIDLE)   { when(io.start) { stateReg := State.sACTIVE } }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is(State.sACTIVE) { when(io.finish) { stateReg := State.sDONE } }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  is(State.sDONE)   { stateReg := State.sIDLE }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}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// Moore型出力 (状態レジスタのみから生成 = グリッチフリー)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io.busy := stateReg === State.sACTIVE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7316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### 非同期読み出しメモリ &amp; RAWフォワーディング (`Mem`)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57216"/>
            <a:ext cx="10698480" cy="2642615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200">
                <a:solidFill>
                  <a:srgbClr val="0F172A"/>
                </a:solidFill>
                <a:latin typeface="Menlo"/>
              </a:defRPr>
            </a:pPr>
            <a:r>
              <a:t>val mem = Mem(8, UInt(8.W))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// クロック同期書き込み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when(io.wen) { mem(io.waddr) := io.wdata }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// 非同期読み出し (同一サイクル無遅延)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val rawData = mem(io.raddr)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// RAWフォワーディング回路 (書き込み中の最新データを即時バイパス)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val bypass = io.wen &amp;&amp; (io.waddr === io.raddr)</a:t>
            </a:r>
          </a:p>
          <a:p>
            <a:pPr>
              <a:defRPr sz="1200">
                <a:solidFill>
                  <a:srgbClr val="0F172A"/>
                </a:solidFill>
                <a:latin typeface="Menlo"/>
              </a:defRPr>
            </a:pPr>
            <a:r>
              <a:t>io.rdata := Mux(bypass, io.wdata, rawData)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第1回: 組合せ回路の基礎 | 受講者配布資料 (Handout)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Arial"/>
              </a:defRPr>
            </a:pPr>
            <a:r>
              <a:t>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© 2026 Advanced Digital Logic Course | 配布用テクニカルリファレンス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5. 演習課題一覧とチェックリスト (90分演習)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8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02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回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基本問題（必須 / 45分）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発展問題（推奨 / 35分）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重点チェック項目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**第1回**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`FullAdder`, `RippleCarryAdder4`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`AddSub4` (減算・オーバーフロー)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拡張加算 `+&amp;`、符号反転 $B \oplus sub$</a:t>
                      </a:r>
                    </a:p>
                  </a:txBody>
                  <a:tcPr/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**第2回**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`Mux4to1`, `SevenSegDecoder`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`PriorityEncoder4` (`valid` 出力)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`WireDefault`、`io.in.orR`</a:t>
                      </a:r>
                    </a:p>
                  </a:txBody>
                  <a:tcPr/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**第3回**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`ModuloNCounter` (クリア/ロード/en)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`PwmGenerator` (周期/Duty比較)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$N-1$ ラップ、優先度 `clear &gt; load &gt; en`</a:t>
                      </a:r>
                    </a:p>
                  </a:txBody>
                  <a:tcPr/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**第4回**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`SelfCorrectingRingCounter`, `JohnsonCounter`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`GrayCodeCounter` (ハミング距離1)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`PopCount(state) === 1.U` 自己復帰</a:t>
                      </a:r>
                    </a:p>
                  </a:txBody>
                  <a:tcPr/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**第5回**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`StructuredALU` (算術/論理統合)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`PipelinedALUWithFlags` (パイプライン)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`Module(new ...)`、`RegNext` 遅延同期</a:t>
                      </a:r>
                    </a:p>
                  </a:txBody>
                  <a:tcPr/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**第6回**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`Counter60` (10進×6進カスケード)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`DigitalClockCore` (24時間時計)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**リップルクロック厳禁**、`cout` $\to$ `en`</a:t>
                      </a:r>
                    </a:p>
                  </a:txBody>
                  <a:tcPr/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**第7回**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`SequenceDetector101` (Moore型)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`TrafficLightController` (タイマ連動)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`ChiselEnum`、重複 "10101" 検出</a:t>
                      </a:r>
                    </a:p>
                  </a:txBody>
                  <a:tcPr/>
                </a:tc>
              </a:tr>
              <a:tr h="3027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**第8回**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`RegisterFile8x8` (2R1W 非同期)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`BypassedRegisterFile` (RAWバイパス)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同一サイクルでの `waddr === raddr` バイパス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